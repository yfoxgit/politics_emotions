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296" r:id="rId6"/>
    <p:sldId id="303" r:id="rId7"/>
    <p:sldId id="305" r:id="rId8"/>
    <p:sldId id="297" r:id="rId9"/>
    <p:sldId id="308" r:id="rId10"/>
    <p:sldId id="307" r:id="rId11"/>
    <p:sldId id="298" r:id="rId12"/>
    <p:sldId id="309" r:id="rId13"/>
    <p:sldId id="299" r:id="rId14"/>
    <p:sldId id="300" r:id="rId15"/>
    <p:sldId id="310" r:id="rId16"/>
    <p:sldId id="311" r:id="rId17"/>
    <p:sldId id="30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5"/>
    <a:srgbClr val="446992"/>
    <a:srgbClr val="AEC2D8"/>
    <a:srgbClr val="98432A"/>
    <a:srgbClr val="D84400"/>
    <a:srgbClr val="44678D"/>
    <a:srgbClr val="263E5A"/>
    <a:srgbClr val="D6E0EB"/>
    <a:srgbClr val="728DAB"/>
    <a:srgbClr val="C9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1F6E82-C2B3-4E34-89D7-A4686A017703}" v="377" dt="2026-03-22T14:21:12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82435" autoAdjust="0"/>
  </p:normalViewPr>
  <p:slideViewPr>
    <p:cSldViewPr snapToGrid="0" showGuides="1">
      <p:cViewPr varScale="1">
        <p:scale>
          <a:sx n="73" d="100"/>
          <a:sy n="73" d="100"/>
        </p:scale>
        <p:origin x="771" y="30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Manual inspection.</a:t>
            </a:r>
          </a:p>
          <a:p>
            <a:r>
              <a:rPr lang="en-GB" dirty="0"/>
              <a:t>Formatting is very different.</a:t>
            </a:r>
          </a:p>
          <a:p>
            <a:r>
              <a:rPr lang="en-GB" dirty="0"/>
              <a:t>Headings, titles, page numbers, multi-column layouts will all make processing difficult.</a:t>
            </a:r>
          </a:p>
          <a:p>
            <a:r>
              <a:rPr lang="en-GB" dirty="0"/>
              <a:t>2024 should be dropped due to general election pre-election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29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GB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GB" noProof="0"/>
              <a:t>How emotive are politicians? – Yasmin Fox, D200 Project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GB" noProof="0"/>
              <a:t>How emotive are politicians? – Yasmin Fox, D200 Project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.uk/government/publications/civil-service-code/the-civil-service-code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revision.github.io/posts/001-transformer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.uk/government/publications/civil-service-code/the-civil-service-code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emotive are politicians?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172084"/>
            <a:ext cx="2094334" cy="760288"/>
          </a:xfrm>
        </p:spPr>
        <p:txBody>
          <a:bodyPr/>
          <a:lstStyle/>
          <a:p>
            <a:r>
              <a:rPr lang="en-US" dirty="0"/>
              <a:t>Yasmin Fox</a:t>
            </a:r>
          </a:p>
          <a:p>
            <a:r>
              <a:rPr lang="en-US" dirty="0"/>
              <a:t>D200 Project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/>
          <a:srcRect l="30779" r="30779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041" t="-915" r="-49999" b="-3421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reeform: Shape 11">
            <a:extLst>
              <a:ext uri="{FF2B5EF4-FFF2-40B4-BE49-F238E27FC236}">
                <a16:creationId xmlns:a16="http://schemas.microsoft.com/office/drawing/2014/main" id="{443E633A-D968-F4D8-D562-9BA678785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2691" y="5462604"/>
            <a:ext cx="1286810" cy="13083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8F6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8E86A61-A64D-0908-AC1B-D7DD3686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C2E90712-181D-7779-88A3-3E6DD199A8AB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dirty="0"/>
              <a:t>Politicians use emotion.</a:t>
            </a:r>
          </a:p>
          <a:p>
            <a:pPr lvl="1"/>
            <a:r>
              <a:rPr lang="en-GB" dirty="0"/>
              <a:t>But how?</a:t>
            </a:r>
          </a:p>
          <a:p>
            <a:pPr lvl="1"/>
            <a:r>
              <a:rPr lang="en-GB" dirty="0"/>
              <a:t>And how much?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Machine Learning techniques help us answer this.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Process very large datasets more quickly and efficiently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Calculate metrics without human discretion</a:t>
            </a:r>
          </a:p>
          <a:p>
            <a:pPr lvl="1">
              <a:buFont typeface="Abadi" panose="020B0604020104020204" pitchFamily="34" charset="0"/>
              <a:buChar char="–"/>
            </a:pPr>
            <a:r>
              <a:rPr lang="en-GB" dirty="0"/>
              <a:t>Require computational resources, lacks interpretability and replicability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Example applications:</a:t>
            </a:r>
          </a:p>
          <a:p>
            <a:pPr lvl="1"/>
            <a:r>
              <a:rPr lang="en-GB" dirty="0"/>
              <a:t>Gennaro &amp; Ash (2022) – measure emotiveness of U.S. Congress speeches</a:t>
            </a:r>
          </a:p>
          <a:p>
            <a:pPr lvl="1"/>
            <a:r>
              <a:rPr lang="en-GB" dirty="0" err="1"/>
              <a:t>Osnabrügge</a:t>
            </a:r>
            <a:r>
              <a:rPr lang="en-GB" dirty="0"/>
              <a:t> et al. (2021) – measure emotive rhetoric in UK and Irish Parliaments</a:t>
            </a:r>
          </a:p>
          <a:p>
            <a:pPr lvl="1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BE5A9-56FC-6BF6-43AA-651FF80812D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888F54C-BF5A-2F86-006C-CC02FC53DE8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48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F489-F085-A859-1018-0ED793D8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C83EEE5-88F8-E1BC-ECA9-7812E382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my project differs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4A9F8EBA-C743-C166-D850-D15921110308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Existing research often lacks a neutral benchmark. </a:t>
            </a:r>
          </a:p>
          <a:p>
            <a:pPr marL="0" indent="0">
              <a:buNone/>
            </a:pPr>
            <a:r>
              <a:rPr lang="en-GB" dirty="0"/>
              <a:t>Civil servants bound to ‘objectivity’ and ‘impartiality’ by the </a:t>
            </a:r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Civil Service Code</a:t>
            </a:r>
            <a:r>
              <a:rPr lang="en-GB" dirty="0"/>
              <a:t> can be this.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Project outline: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Collect UK government department annual reports &amp; accounts</a:t>
            </a:r>
          </a:p>
          <a:p>
            <a:pPr lvl="1"/>
            <a:r>
              <a:rPr lang="en-GB" dirty="0"/>
              <a:t>Compare forewords by politicians vs civil servants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Apply Gennaro &amp; Ash (2022)’s model to calculate emotiveness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Validate using Claude Sonnet 4.6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ADA58-5E1F-F7B9-B7F6-6587CA4CF50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7DD03C8-C7E6-77D4-B3D0-C7783CD2989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 dirty="0"/>
              <a:t>How emotive are politicians? – Yasmin Fox, D200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5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BC10-759F-82C7-4F71-62826963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0353A5C-8C79-B9A0-EFA1-3539B817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– Collection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3976B058-626E-4103-FB08-033FF15E35D8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 downloaded PDFs of the reports from GOV.UK and manually extracted the forewords.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A4CA4-6F07-A105-F794-6136E199FB9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A771A-5B17-E0F4-63FB-8B05970D3B0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E6041-B601-F073-44AE-98B70F4D1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42" y="2891832"/>
            <a:ext cx="3601320" cy="31583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B5AF8-F713-DF79-6F9C-A560F1F11219}"/>
              </a:ext>
            </a:extLst>
          </p:cNvPr>
          <p:cNvSpPr txBox="1"/>
          <p:nvPr/>
        </p:nvSpPr>
        <p:spPr>
          <a:xfrm>
            <a:off x="654070" y="2500199"/>
            <a:ext cx="3461663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Cabinet Office, Minister, 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1A4C8-CF73-D5A0-DE9A-7FFDD8396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492" y="2296024"/>
            <a:ext cx="3284912" cy="3754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41748-F4EA-B139-AF58-426F59C675B6}"/>
              </a:ext>
            </a:extLst>
          </p:cNvPr>
          <p:cNvSpPr txBox="1"/>
          <p:nvPr/>
        </p:nvSpPr>
        <p:spPr>
          <a:xfrm>
            <a:off x="8485412" y="1949393"/>
            <a:ext cx="3461663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FCDO, Minister, 2025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85AC96-2A73-7C6D-ECE1-88FBDA3C4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2620646"/>
            <a:ext cx="3279824" cy="34295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BEF6D61-642C-96A0-3E6C-6DFD41E3E61B}"/>
              </a:ext>
            </a:extLst>
          </p:cNvPr>
          <p:cNvSpPr txBox="1"/>
          <p:nvPr/>
        </p:nvSpPr>
        <p:spPr>
          <a:xfrm>
            <a:off x="4508512" y="2257170"/>
            <a:ext cx="3461663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DfE, Permanent Secretary, 2024</a:t>
            </a:r>
          </a:p>
        </p:txBody>
      </p:sp>
    </p:spTree>
    <p:extLst>
      <p:ext uri="{BB962C8B-B14F-4D97-AF65-F5344CB8AC3E}">
        <p14:creationId xmlns:p14="http://schemas.microsoft.com/office/powerpoint/2010/main" val="374402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0853-3DE1-A816-A848-BBDA4D57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24AAF96-9EDE-3AB9-BD88-F1A641D9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– Drop unusable forewords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16A43D66-B84B-A649-9C9C-5D80979B75C2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GB" dirty="0"/>
              <a:t>Merge authors to ‘politician’ vs ‘civil servant’</a:t>
            </a:r>
          </a:p>
          <a:p>
            <a:pPr marL="457200" indent="-457200">
              <a:buAutoNum type="arabicPeriod"/>
            </a:pPr>
            <a:r>
              <a:rPr lang="en-GB" dirty="0"/>
              <a:t>Drop 2023 to 2024 financial year</a:t>
            </a:r>
          </a:p>
          <a:p>
            <a:pPr marL="0" indent="0">
              <a:buNone/>
            </a:pPr>
            <a:r>
              <a:rPr lang="en-GB" b="1" dirty="0"/>
              <a:t>Total usable forewords: </a:t>
            </a:r>
            <a:r>
              <a:rPr lang="en-GB" dirty="0"/>
              <a:t>54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52EAF-0911-BF4B-033C-47B835E56A8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E3128-5AFB-5089-7D47-2C04BCB6AE4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CFC9D3-B94B-E688-4E20-3B07791DE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39639"/>
              </p:ext>
            </p:extLst>
          </p:nvPr>
        </p:nvGraphicFramePr>
        <p:xfrm>
          <a:off x="4599432" y="4188785"/>
          <a:ext cx="5015412" cy="11328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1804">
                  <a:extLst>
                    <a:ext uri="{9D8B030D-6E8A-4147-A177-3AD203B41FA5}">
                      <a16:colId xmlns:a16="http://schemas.microsoft.com/office/drawing/2014/main" val="882369406"/>
                    </a:ext>
                  </a:extLst>
                </a:gridCol>
                <a:gridCol w="1671804">
                  <a:extLst>
                    <a:ext uri="{9D8B030D-6E8A-4147-A177-3AD203B41FA5}">
                      <a16:colId xmlns:a16="http://schemas.microsoft.com/office/drawing/2014/main" val="4294792038"/>
                    </a:ext>
                  </a:extLst>
                </a:gridCol>
                <a:gridCol w="1671804">
                  <a:extLst>
                    <a:ext uri="{9D8B030D-6E8A-4147-A177-3AD203B41FA5}">
                      <a16:colId xmlns:a16="http://schemas.microsoft.com/office/drawing/2014/main" val="4112921056"/>
                    </a:ext>
                  </a:extLst>
                </a:gridCol>
              </a:tblGrid>
              <a:tr h="377623">
                <a:tc>
                  <a:txBody>
                    <a:bodyPr/>
                    <a:lstStyle/>
                    <a:p>
                      <a:r>
                        <a:rPr lang="en-GB" b="1" dirty="0"/>
                        <a:t>Author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22/23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24/25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108983"/>
                  </a:ext>
                </a:extLst>
              </a:tr>
              <a:tr h="377623">
                <a:tc>
                  <a:txBody>
                    <a:bodyPr/>
                    <a:lstStyle/>
                    <a:p>
                      <a:r>
                        <a:rPr lang="en-GB" dirty="0"/>
                        <a:t>Civil Servant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60815812"/>
                  </a:ext>
                </a:extLst>
              </a:tr>
              <a:tr h="377623">
                <a:tc>
                  <a:txBody>
                    <a:bodyPr/>
                    <a:lstStyle/>
                    <a:p>
                      <a:r>
                        <a:rPr lang="en-GB" dirty="0"/>
                        <a:t>Politician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9445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5C83D2-AB75-CE6E-DF4A-E03075AC1277}"/>
              </a:ext>
            </a:extLst>
          </p:cNvPr>
          <p:cNvSpPr txBox="1"/>
          <p:nvPr/>
        </p:nvSpPr>
        <p:spPr>
          <a:xfrm>
            <a:off x="6065851" y="3716789"/>
            <a:ext cx="20825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8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Conservatives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04885-5A8E-BDA3-CBAD-6D93702C1141}"/>
              </a:ext>
            </a:extLst>
          </p:cNvPr>
          <p:cNvSpPr txBox="1"/>
          <p:nvPr/>
        </p:nvSpPr>
        <p:spPr>
          <a:xfrm>
            <a:off x="7736607" y="3716789"/>
            <a:ext cx="20825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8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Labour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D094FC6-DFB7-1EDD-F042-5ABBABE94C6D}"/>
              </a:ext>
            </a:extLst>
          </p:cNvPr>
          <p:cNvSpPr/>
          <p:nvPr/>
        </p:nvSpPr>
        <p:spPr>
          <a:xfrm rot="16200000">
            <a:off x="7715090" y="2618860"/>
            <a:ext cx="293878" cy="1883979"/>
          </a:xfrm>
          <a:prstGeom prst="righ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E7768-675E-01E6-A08F-FD7371508AEB}"/>
              </a:ext>
            </a:extLst>
          </p:cNvPr>
          <p:cNvSpPr txBox="1"/>
          <p:nvPr/>
        </p:nvSpPr>
        <p:spPr>
          <a:xfrm>
            <a:off x="5973034" y="2835907"/>
            <a:ext cx="3777990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Political affiliation distinguished by party in power</a:t>
            </a:r>
            <a:endParaRPr lang="en-GB" sz="1800" dirty="0">
              <a:solidFill>
                <a:schemeClr val="accent6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1AE20862-50B4-38AC-3A86-6AA1EDCC4CD0}"/>
              </a:ext>
            </a:extLst>
          </p:cNvPr>
          <p:cNvSpPr/>
          <p:nvPr/>
        </p:nvSpPr>
        <p:spPr>
          <a:xfrm rot="10800000">
            <a:off x="4260480" y="4727633"/>
            <a:ext cx="291925" cy="373337"/>
          </a:xfrm>
          <a:prstGeom prst="righ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35D1B-071C-6355-84E6-07BA0BC08F31}"/>
              </a:ext>
            </a:extLst>
          </p:cNvPr>
          <p:cNvSpPr txBox="1"/>
          <p:nvPr/>
        </p:nvSpPr>
        <p:spPr>
          <a:xfrm>
            <a:off x="1222812" y="4589159"/>
            <a:ext cx="3277342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Author distinguishes expected emotiveness</a:t>
            </a:r>
            <a:endParaRPr lang="en-GB" sz="1800" dirty="0">
              <a:solidFill>
                <a:schemeClr val="accent6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65F6D6-EB3C-E07B-F15A-56211D53BF3C}"/>
              </a:ext>
            </a:extLst>
          </p:cNvPr>
          <p:cNvSpPr txBox="1"/>
          <p:nvPr/>
        </p:nvSpPr>
        <p:spPr>
          <a:xfrm>
            <a:off x="4406442" y="5381870"/>
            <a:ext cx="5260072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b="1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Annual report forewords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, distributed by author and year</a:t>
            </a:r>
            <a:endParaRPr lang="en-GB" sz="1400" i="1" dirty="0">
              <a:solidFill>
                <a:schemeClr val="accent6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0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DE53-5A07-4C62-4668-F9E63CBA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30723EC-F073-DDE4-733F-EC97B53B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– Cleaning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924C13-48D3-B5AB-7ABA-66945F646EB1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Stage 1: </a:t>
            </a:r>
            <a:r>
              <a:rPr lang="en-GB" dirty="0"/>
              <a:t>Extract Sentences</a:t>
            </a:r>
          </a:p>
          <a:p>
            <a:r>
              <a:rPr lang="en-GB" dirty="0"/>
              <a:t>Split by line</a:t>
            </a:r>
          </a:p>
          <a:p>
            <a:r>
              <a:rPr lang="en-GB" dirty="0"/>
              <a:t>Remove page numbers, headers, footers and nonword strings such as “\n”</a:t>
            </a:r>
          </a:p>
          <a:p>
            <a:r>
              <a:rPr lang="en-GB" dirty="0"/>
              <a:t>Segment sentences using NLTK’s “</a:t>
            </a:r>
            <a:r>
              <a:rPr lang="en-GB" dirty="0" err="1"/>
              <a:t>sent_tokenize</a:t>
            </a:r>
            <a:r>
              <a:rPr lang="en-GB" dirty="0"/>
              <a:t>” function</a:t>
            </a:r>
          </a:p>
          <a:p>
            <a:r>
              <a:rPr lang="en-GB" dirty="0"/>
              <a:t>Drop the first two and final sentences and sentences with fewer than 4 words for safety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11B6FF-CF2C-43B3-60B4-02D3065B1E5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30ED5-3C3A-5781-0A7F-24ED136BAC8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2E885-A5AB-F248-25E5-4D65BC7DF8A4}"/>
              </a:ext>
            </a:extLst>
          </p:cNvPr>
          <p:cNvSpPr txBox="1"/>
          <p:nvPr/>
        </p:nvSpPr>
        <p:spPr>
          <a:xfrm>
            <a:off x="484632" y="3886127"/>
            <a:ext cx="5316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en-GB" sz="1400" dirty="0">
                <a:solidFill>
                  <a:schemeClr val="accent6"/>
                </a:solidFill>
              </a:rPr>
              <a:t>' \n5 \</a:t>
            </a:r>
            <a:r>
              <a:rPr lang="en-GB" sz="1400" dirty="0" err="1">
                <a:solidFill>
                  <a:schemeClr val="accent6"/>
                </a:solidFill>
              </a:rPr>
              <a:t>nStatement</a:t>
            </a:r>
            <a:r>
              <a:rPr lang="en-GB" sz="1400" dirty="0">
                <a:solidFill>
                  <a:schemeClr val="accent6"/>
                </a:solidFill>
              </a:rPr>
              <a:t> by the \</a:t>
            </a:r>
            <a:r>
              <a:rPr lang="en-GB" sz="1400" dirty="0" err="1">
                <a:solidFill>
                  <a:schemeClr val="accent6"/>
                </a:solidFill>
              </a:rPr>
              <a:t>nPermanent</a:t>
            </a:r>
            <a:r>
              <a:rPr lang="en-GB" sz="1400" dirty="0">
                <a:solidFill>
                  <a:schemeClr val="accent6"/>
                </a:solidFill>
              </a:rPr>
              <a:t> Secretary  \</a:t>
            </a:r>
            <a:r>
              <a:rPr lang="en-GB" sz="1400" dirty="0" err="1">
                <a:solidFill>
                  <a:schemeClr val="accent6"/>
                </a:solidFill>
              </a:rPr>
              <a:t>nIt</a:t>
            </a:r>
            <a:r>
              <a:rPr lang="en-GB" sz="1400" dirty="0">
                <a:solidFill>
                  <a:schemeClr val="accent6"/>
                </a:solidFill>
              </a:rPr>
              <a:t> is a testament to its staff that HM Treasury has responded with agility \</a:t>
            </a:r>
            <a:r>
              <a:rPr lang="en-GB" sz="1400" dirty="0" err="1">
                <a:solidFill>
                  <a:schemeClr val="accent6"/>
                </a:solidFill>
              </a:rPr>
              <a:t>nand</a:t>
            </a:r>
            <a:r>
              <a:rPr lang="en-GB" sz="1400" dirty="0">
                <a:solidFill>
                  <a:schemeClr val="accent6"/>
                </a:solidFill>
              </a:rPr>
              <a:t> commitment to progress its key priorities through a busy past year.</a:t>
            </a:r>
          </a:p>
          <a:p>
            <a:r>
              <a:rPr lang="en-GB" sz="1400" dirty="0">
                <a:solidFill>
                  <a:schemeClr val="accent6"/>
                </a:solidFill>
              </a:rPr>
              <a:t>…</a:t>
            </a:r>
          </a:p>
          <a:p>
            <a:r>
              <a:rPr lang="en-GB" sz="1400" dirty="0">
                <a:solidFill>
                  <a:schemeClr val="accent6"/>
                </a:solidFill>
              </a:rPr>
              <a:t>thrive \</a:t>
            </a:r>
            <a:r>
              <a:rPr lang="en-GB" sz="1400" dirty="0" err="1">
                <a:solidFill>
                  <a:schemeClr val="accent6"/>
                </a:solidFill>
              </a:rPr>
              <a:t>nand</a:t>
            </a:r>
            <a:r>
              <a:rPr lang="en-GB" sz="1400" dirty="0">
                <a:solidFill>
                  <a:schemeClr val="accent6"/>
                </a:solidFill>
              </a:rPr>
              <a:t> contribute to the security and prosperity of the nation. My sincere \</a:t>
            </a:r>
            <a:r>
              <a:rPr lang="en-GB" sz="1400" dirty="0" err="1">
                <a:solidFill>
                  <a:schemeClr val="accent6"/>
                </a:solidFill>
              </a:rPr>
              <a:t>nthanks</a:t>
            </a:r>
            <a:r>
              <a:rPr lang="en-GB" sz="1400" dirty="0">
                <a:solidFill>
                  <a:schemeClr val="accent6"/>
                </a:solidFill>
              </a:rPr>
              <a:t> to everyone who has contributed to the Treasury’s delivery this \</a:t>
            </a:r>
            <a:r>
              <a:rPr lang="en-GB" sz="1400" dirty="0" err="1">
                <a:solidFill>
                  <a:schemeClr val="accent6"/>
                </a:solidFill>
              </a:rPr>
              <a:t>nyear</a:t>
            </a:r>
            <a:r>
              <a:rPr lang="en-GB" sz="1400" dirty="0">
                <a:solidFill>
                  <a:schemeClr val="accent6"/>
                </a:solidFill>
              </a:rPr>
              <a:t>. \n \n \n \</a:t>
            </a:r>
            <a:r>
              <a:rPr lang="en-GB" sz="1400" dirty="0" err="1">
                <a:solidFill>
                  <a:schemeClr val="accent6"/>
                </a:solidFill>
              </a:rPr>
              <a:t>nJames</a:t>
            </a:r>
            <a:r>
              <a:rPr lang="en-GB" sz="1400" dirty="0">
                <a:solidFill>
                  <a:schemeClr val="accent6"/>
                </a:solidFill>
              </a:rPr>
              <a:t> Bowler \</a:t>
            </a:r>
            <a:r>
              <a:rPr lang="en-GB" sz="1400" dirty="0" err="1">
                <a:solidFill>
                  <a:schemeClr val="accent6"/>
                </a:solidFill>
              </a:rPr>
              <a:t>nPermanent</a:t>
            </a:r>
            <a:r>
              <a:rPr lang="en-GB" sz="1400" dirty="0">
                <a:solidFill>
                  <a:schemeClr val="accent6"/>
                </a:solidFill>
              </a:rPr>
              <a:t> Secretary to the Treasury \n11 July 2023 \n  \n \n \n'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36991-6080-1866-D1FC-BE6B93828A6E}"/>
              </a:ext>
            </a:extLst>
          </p:cNvPr>
          <p:cNvSpPr txBox="1"/>
          <p:nvPr/>
        </p:nvSpPr>
        <p:spPr>
          <a:xfrm>
            <a:off x="6833565" y="3900830"/>
            <a:ext cx="438764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en-GB" sz="1400" dirty="0">
                <a:solidFill>
                  <a:schemeClr val="accent6"/>
                </a:solidFill>
              </a:rPr>
              <a:t>'The Treasury took significant action to address the shocks caused by Russia’s invasion of Ukraine.’</a:t>
            </a:r>
          </a:p>
          <a:p>
            <a:r>
              <a:rPr lang="en-GB" sz="1400" dirty="0">
                <a:solidFill>
                  <a:schemeClr val="accent6"/>
                </a:solidFill>
              </a:rPr>
              <a:t>…</a:t>
            </a:r>
          </a:p>
          <a:p>
            <a:r>
              <a:rPr lang="en-GB" sz="1400" dirty="0">
                <a:solidFill>
                  <a:schemeClr val="accent6"/>
                </a:solidFill>
              </a:rPr>
              <a:t>'It is a privilege to be part of this diverse and inclusive workplace, where all colleagues can thrive and contribute to the security and prosperity of the nation.’</a:t>
            </a:r>
          </a:p>
          <a:p>
            <a:r>
              <a:rPr lang="en-GB" sz="1400" dirty="0">
                <a:solidFill>
                  <a:schemeClr val="accent6"/>
                </a:solidFill>
              </a:rPr>
              <a:t>'My sincere thanks to everyone who has contributed to the Treasury’s delivery this year.'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C3CDD4-A0FB-D147-ACAB-82330EAA4161}"/>
              </a:ext>
            </a:extLst>
          </p:cNvPr>
          <p:cNvCxnSpPr>
            <a:cxnSpLocks/>
          </p:cNvCxnSpPr>
          <p:nvPr/>
        </p:nvCxnSpPr>
        <p:spPr>
          <a:xfrm>
            <a:off x="6032727" y="4709160"/>
            <a:ext cx="67273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2C468B-F505-133A-B953-51D01F3EF09E}"/>
              </a:ext>
            </a:extLst>
          </p:cNvPr>
          <p:cNvSpPr txBox="1"/>
          <p:nvPr/>
        </p:nvSpPr>
        <p:spPr>
          <a:xfrm>
            <a:off x="4252887" y="5778267"/>
            <a:ext cx="3461663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HM Treasury, Civil Servant, 2023</a:t>
            </a:r>
          </a:p>
        </p:txBody>
      </p:sp>
    </p:spTree>
    <p:extLst>
      <p:ext uri="{BB962C8B-B14F-4D97-AF65-F5344CB8AC3E}">
        <p14:creationId xmlns:p14="http://schemas.microsoft.com/office/powerpoint/2010/main" val="52722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FBF31-7E98-6881-A695-ABB54E500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C000FDA-AD5A-9164-4553-4ABFA72D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– Cleaning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980AF82A-F8EE-0611-2795-477AAEFCB99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Stage 2: </a:t>
            </a:r>
            <a:r>
              <a:rPr lang="en-GB" dirty="0"/>
              <a:t>Tokenize, replicating Gennaro &amp; Ash (2022) </a:t>
            </a:r>
          </a:p>
          <a:p>
            <a:r>
              <a:rPr lang="en-GB" dirty="0"/>
              <a:t>Remove punctuation, capitalisation, digits and words 2 characters or fewer</a:t>
            </a:r>
          </a:p>
          <a:p>
            <a:r>
              <a:rPr lang="en-GB" dirty="0"/>
              <a:t>Tag parts of speech using NLTK’s Perceptron Tagger, retaining only nouns, verbs and adjectives</a:t>
            </a:r>
          </a:p>
          <a:p>
            <a:r>
              <a:rPr lang="en-GB" dirty="0"/>
              <a:t>Stem using Snowball Stemmer</a:t>
            </a:r>
          </a:p>
          <a:p>
            <a:r>
              <a:rPr lang="en-GB" dirty="0"/>
              <a:t>Drop </a:t>
            </a:r>
            <a:r>
              <a:rPr lang="en-GB" dirty="0" err="1"/>
              <a:t>stopwords</a:t>
            </a:r>
            <a:r>
              <a:rPr lang="en-GB" dirty="0"/>
              <a:t> using NLTK’s inbuilt list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1C045-46AC-259B-24C6-4E27FE3F0F5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D6B8D-7E8B-4C05-9BAB-BD434FD7DF6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E4784-3765-60CF-C9D4-3FB1F11EF2AD}"/>
              </a:ext>
            </a:extLst>
          </p:cNvPr>
          <p:cNvSpPr txBox="1"/>
          <p:nvPr/>
        </p:nvSpPr>
        <p:spPr>
          <a:xfrm>
            <a:off x="1193074" y="3848465"/>
            <a:ext cx="42209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'The Treasury took significant action to address the shocks caused by Russia’s invasion of Ukraine.’</a:t>
            </a:r>
          </a:p>
          <a:p>
            <a:endParaRPr lang="en-GB" sz="1600" dirty="0">
              <a:solidFill>
                <a:schemeClr val="accent6"/>
              </a:solidFill>
            </a:endParaRPr>
          </a:p>
          <a:p>
            <a:r>
              <a:rPr lang="en-GB" sz="1600" dirty="0">
                <a:solidFill>
                  <a:schemeClr val="accent6"/>
                </a:solidFill>
              </a:rPr>
              <a:t>'My sincere thanks to everyone who has contributed to the Treasury’s delivery this year.'</a:t>
            </a:r>
          </a:p>
          <a:p>
            <a:endParaRPr lang="en-GB" sz="1600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27B30-043D-0C9D-03FB-F56D9D3E3149}"/>
              </a:ext>
            </a:extLst>
          </p:cNvPr>
          <p:cNvSpPr txBox="1"/>
          <p:nvPr/>
        </p:nvSpPr>
        <p:spPr>
          <a:xfrm>
            <a:off x="6777991" y="3860801"/>
            <a:ext cx="38486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['</a:t>
            </a:r>
            <a:r>
              <a:rPr lang="en-GB" sz="1600" dirty="0" err="1">
                <a:solidFill>
                  <a:schemeClr val="accent6"/>
                </a:solidFill>
              </a:rPr>
              <a:t>treasuri</a:t>
            </a:r>
            <a:r>
              <a:rPr lang="en-GB" sz="1600" dirty="0">
                <a:solidFill>
                  <a:schemeClr val="accent6"/>
                </a:solidFill>
              </a:rPr>
              <a:t>', 'took', 'signific', 'action', 'shock', '</a:t>
            </a:r>
            <a:r>
              <a:rPr lang="en-GB" sz="1600" dirty="0" err="1">
                <a:solidFill>
                  <a:schemeClr val="accent6"/>
                </a:solidFill>
              </a:rPr>
              <a:t>caus</a:t>
            </a:r>
            <a:r>
              <a:rPr lang="en-GB" sz="1600" dirty="0">
                <a:solidFill>
                  <a:schemeClr val="accent6"/>
                </a:solidFill>
              </a:rPr>
              <a:t>', '</a:t>
            </a:r>
            <a:r>
              <a:rPr lang="en-GB" sz="1600" dirty="0" err="1">
                <a:solidFill>
                  <a:schemeClr val="accent6"/>
                </a:solidFill>
              </a:rPr>
              <a:t>russia</a:t>
            </a:r>
            <a:r>
              <a:rPr lang="en-GB" sz="1600" dirty="0">
                <a:solidFill>
                  <a:schemeClr val="accent6"/>
                </a:solidFill>
              </a:rPr>
              <a:t>', '</a:t>
            </a:r>
            <a:r>
              <a:rPr lang="en-GB" sz="1600" dirty="0" err="1">
                <a:solidFill>
                  <a:schemeClr val="accent6"/>
                </a:solidFill>
              </a:rPr>
              <a:t>invas</a:t>
            </a:r>
            <a:r>
              <a:rPr lang="en-GB" sz="1600" dirty="0">
                <a:solidFill>
                  <a:schemeClr val="accent6"/>
                </a:solidFill>
              </a:rPr>
              <a:t>', '</a:t>
            </a:r>
            <a:r>
              <a:rPr lang="en-GB" sz="1600" dirty="0" err="1">
                <a:solidFill>
                  <a:schemeClr val="accent6"/>
                </a:solidFill>
              </a:rPr>
              <a:t>ukrain</a:t>
            </a:r>
            <a:r>
              <a:rPr lang="en-GB" sz="1600" dirty="0">
                <a:solidFill>
                  <a:schemeClr val="accent6"/>
                </a:solidFill>
              </a:rPr>
              <a:t>’]</a:t>
            </a:r>
          </a:p>
          <a:p>
            <a:endParaRPr lang="en-GB" sz="1600" dirty="0">
              <a:solidFill>
                <a:schemeClr val="accent6"/>
              </a:solidFill>
            </a:endParaRPr>
          </a:p>
          <a:p>
            <a:endParaRPr lang="en-GB" sz="1600" dirty="0">
              <a:solidFill>
                <a:schemeClr val="accent6"/>
              </a:solidFill>
            </a:endParaRPr>
          </a:p>
          <a:p>
            <a:r>
              <a:rPr lang="en-GB" sz="1600" dirty="0">
                <a:solidFill>
                  <a:schemeClr val="accent6"/>
                </a:solidFill>
              </a:rPr>
              <a:t>['</a:t>
            </a:r>
            <a:r>
              <a:rPr lang="en-GB" sz="1600" dirty="0" err="1">
                <a:solidFill>
                  <a:schemeClr val="accent6"/>
                </a:solidFill>
              </a:rPr>
              <a:t>sincer</a:t>
            </a:r>
            <a:r>
              <a:rPr lang="en-GB" sz="1600" dirty="0">
                <a:solidFill>
                  <a:schemeClr val="accent6"/>
                </a:solidFill>
              </a:rPr>
              <a:t>', 'thank', '</a:t>
            </a:r>
            <a:r>
              <a:rPr lang="en-GB" sz="1600" dirty="0" err="1">
                <a:solidFill>
                  <a:schemeClr val="accent6"/>
                </a:solidFill>
              </a:rPr>
              <a:t>everyon</a:t>
            </a:r>
            <a:r>
              <a:rPr lang="en-GB" sz="1600" dirty="0">
                <a:solidFill>
                  <a:schemeClr val="accent6"/>
                </a:solidFill>
              </a:rPr>
              <a:t>', '</a:t>
            </a:r>
            <a:r>
              <a:rPr lang="en-GB" sz="1600" dirty="0" err="1">
                <a:solidFill>
                  <a:schemeClr val="accent6"/>
                </a:solidFill>
              </a:rPr>
              <a:t>contribut</a:t>
            </a:r>
            <a:r>
              <a:rPr lang="en-GB" sz="1600" dirty="0">
                <a:solidFill>
                  <a:schemeClr val="accent6"/>
                </a:solidFill>
              </a:rPr>
              <a:t>', '</a:t>
            </a:r>
            <a:r>
              <a:rPr lang="en-GB" sz="1600" dirty="0" err="1">
                <a:solidFill>
                  <a:schemeClr val="accent6"/>
                </a:solidFill>
              </a:rPr>
              <a:t>treasuri</a:t>
            </a:r>
            <a:r>
              <a:rPr lang="en-GB" sz="1600" dirty="0">
                <a:solidFill>
                  <a:schemeClr val="accent6"/>
                </a:solidFill>
              </a:rPr>
              <a:t>', '</a:t>
            </a:r>
            <a:r>
              <a:rPr lang="en-GB" sz="1600" dirty="0" err="1">
                <a:solidFill>
                  <a:schemeClr val="accent6"/>
                </a:solidFill>
              </a:rPr>
              <a:t>deliveri</a:t>
            </a:r>
            <a:r>
              <a:rPr lang="en-GB" sz="1600" dirty="0">
                <a:solidFill>
                  <a:schemeClr val="accent6"/>
                </a:solidFill>
              </a:rPr>
              <a:t>', 'year']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E9372B-FF6F-FCC5-F83A-D4985EB1355B}"/>
              </a:ext>
            </a:extLst>
          </p:cNvPr>
          <p:cNvCxnSpPr>
            <a:cxnSpLocks/>
          </p:cNvCxnSpPr>
          <p:nvPr/>
        </p:nvCxnSpPr>
        <p:spPr>
          <a:xfrm>
            <a:off x="5262019" y="4134393"/>
            <a:ext cx="128437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C2430A-4742-24C9-872B-D7EB43554C91}"/>
              </a:ext>
            </a:extLst>
          </p:cNvPr>
          <p:cNvCxnSpPr>
            <a:cxnSpLocks/>
          </p:cNvCxnSpPr>
          <p:nvPr/>
        </p:nvCxnSpPr>
        <p:spPr>
          <a:xfrm>
            <a:off x="5268415" y="5096690"/>
            <a:ext cx="128437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D1EEFA1-E77C-8FD5-94E3-1EBAAD9D3E2D}"/>
              </a:ext>
            </a:extLst>
          </p:cNvPr>
          <p:cNvSpPr txBox="1"/>
          <p:nvPr/>
        </p:nvSpPr>
        <p:spPr>
          <a:xfrm>
            <a:off x="4252887" y="5778267"/>
            <a:ext cx="3461663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HM Treasury, Civil Servant, 2023</a:t>
            </a:r>
          </a:p>
        </p:txBody>
      </p:sp>
    </p:spTree>
    <p:extLst>
      <p:ext uri="{BB962C8B-B14F-4D97-AF65-F5344CB8AC3E}">
        <p14:creationId xmlns:p14="http://schemas.microsoft.com/office/powerpoint/2010/main" val="185201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18A4-B17B-277D-E1E2-F0B829FB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29DC34-8231-4600-6B73-F2BC7324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 – Word2Vec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5EF6F6-32CE-34F6-2496-235EFC4D2B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D4E70-F30B-09A8-04E4-427885E53AC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76BAB2-5B68-4829-ABEF-C63F5F2B2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359" y="1733671"/>
            <a:ext cx="4588539" cy="4373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E9D32-0392-79EB-DFF5-168153B477E7}"/>
              </a:ext>
            </a:extLst>
          </p:cNvPr>
          <p:cNvSpPr txBox="1"/>
          <p:nvPr/>
        </p:nvSpPr>
        <p:spPr>
          <a:xfrm>
            <a:off x="8542409" y="5661818"/>
            <a:ext cx="2651760" cy="73866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b="1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Word2Vec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, adapted from </a:t>
            </a:r>
            <a:r>
              <a:rPr lang="en-GB" sz="1400" dirty="0" err="1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Mikolov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et al. (2013), applied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to Gennaro &amp; Ash (2022)</a:t>
            </a:r>
          </a:p>
        </p:txBody>
      </p:sp>
    </p:spTree>
    <p:extLst>
      <p:ext uri="{BB962C8B-B14F-4D97-AF65-F5344CB8AC3E}">
        <p14:creationId xmlns:p14="http://schemas.microsoft.com/office/powerpoint/2010/main" val="324679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CC34-0032-606E-69DB-6D3F5EB5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9AB7F93-42B1-2B54-2ACB-65D3F0F9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 – Emotionality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hart Placeholder 10">
                <a:extLst>
                  <a:ext uri="{FF2B5EF4-FFF2-40B4-BE49-F238E27FC236}">
                    <a16:creationId xmlns:a16="http://schemas.microsoft.com/office/drawing/2014/main" id="{6A4C9658-F542-F29E-CB5C-6DE0A98D5598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>
                    <a:solidFill>
                      <a:schemeClr val="accent6"/>
                    </a:solidFill>
                  </a:rPr>
                  <a:t>Emotionality score of speech vector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accent6"/>
                    </a:solidFill>
                  </a:rPr>
                  <a:t>is given by: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6"/>
                  </a:solidFill>
                </a:endParaRPr>
              </a:p>
              <a:p>
                <a:pPr marL="0" indent="0" algn="ctr">
                  <a:buNone/>
                </a:pPr>
                <a:endParaRPr lang="en-GB" dirty="0">
                  <a:solidFill>
                    <a:schemeClr val="accent6"/>
                  </a:solidFill>
                </a:endParaRPr>
              </a:p>
              <a:p>
                <a:pPr marL="0" indent="0" algn="ctr">
                  <a:buNone/>
                </a:pPr>
                <a:endParaRPr lang="en-GB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" name="Chart Placeholder 10">
                <a:extLst>
                  <a:ext uri="{FF2B5EF4-FFF2-40B4-BE49-F238E27FC236}">
                    <a16:creationId xmlns:a16="http://schemas.microsoft.com/office/drawing/2014/main" id="{6A4C9658-F542-F29E-CB5C-6DE0A98D5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blipFill>
                <a:blip r:embed="rId2"/>
                <a:stretch>
                  <a:fillRect l="-560" t="-14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32E26-F129-DCB4-2AED-08020A5BAE3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2603E-0264-B627-7176-2D61C084A48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67168D6-D758-D20F-A17D-D6D883A9B133}"/>
              </a:ext>
            </a:extLst>
          </p:cNvPr>
          <p:cNvCxnSpPr>
            <a:cxnSpLocks/>
          </p:cNvCxnSpPr>
          <p:nvPr/>
        </p:nvCxnSpPr>
        <p:spPr>
          <a:xfrm>
            <a:off x="7242688" y="2868336"/>
            <a:ext cx="612947" cy="5290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26637AE-B57E-8049-0885-BCF3EAAB30F1}"/>
              </a:ext>
            </a:extLst>
          </p:cNvPr>
          <p:cNvSpPr txBox="1"/>
          <p:nvPr/>
        </p:nvSpPr>
        <p:spPr>
          <a:xfrm>
            <a:off x="6096000" y="2487466"/>
            <a:ext cx="1798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Cosine Similarity</a:t>
            </a:r>
          </a:p>
          <a:p>
            <a:endParaRPr lang="en-GB" sz="1600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138B8-843B-F69D-A7DB-B7876356DD04}"/>
              </a:ext>
            </a:extLst>
          </p:cNvPr>
          <p:cNvSpPr txBox="1"/>
          <p:nvPr/>
        </p:nvSpPr>
        <p:spPr>
          <a:xfrm>
            <a:off x="8356242" y="2534586"/>
            <a:ext cx="179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Affect Pole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C897A-343C-DFE0-63DB-47DB8FD12E92}"/>
              </a:ext>
            </a:extLst>
          </p:cNvPr>
          <p:cNvSpPr txBox="1"/>
          <p:nvPr/>
        </p:nvSpPr>
        <p:spPr>
          <a:xfrm>
            <a:off x="8496860" y="4493034"/>
            <a:ext cx="179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Cognition Pole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EE983B-5B2C-B3A2-1A9A-9F127ED5B231}"/>
              </a:ext>
            </a:extLst>
          </p:cNvPr>
          <p:cNvCxnSpPr>
            <a:cxnSpLocks/>
          </p:cNvCxnSpPr>
          <p:nvPr/>
        </p:nvCxnSpPr>
        <p:spPr>
          <a:xfrm flipH="1">
            <a:off x="8731673" y="2826019"/>
            <a:ext cx="98152" cy="5267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82C363-8C12-1E85-7A36-6E6DA5A5BAAA}"/>
              </a:ext>
            </a:extLst>
          </p:cNvPr>
          <p:cNvCxnSpPr>
            <a:cxnSpLocks/>
          </p:cNvCxnSpPr>
          <p:nvPr/>
        </p:nvCxnSpPr>
        <p:spPr>
          <a:xfrm flipH="1" flipV="1">
            <a:off x="8758105" y="3996053"/>
            <a:ext cx="227764" cy="4969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082FBE-2FF0-E245-FED6-9DC69F2E8547}"/>
              </a:ext>
            </a:extLst>
          </p:cNvPr>
          <p:cNvSpPr txBox="1"/>
          <p:nvPr/>
        </p:nvSpPr>
        <p:spPr>
          <a:xfrm>
            <a:off x="9620128" y="3403799"/>
            <a:ext cx="1463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Smoothing constant = 1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48C4C232-3544-868C-D6E7-BF38E2100523}"/>
              </a:ext>
            </a:extLst>
          </p:cNvPr>
          <p:cNvSpPr/>
          <p:nvPr/>
        </p:nvSpPr>
        <p:spPr>
          <a:xfrm>
            <a:off x="9328204" y="3528406"/>
            <a:ext cx="291925" cy="373337"/>
          </a:xfrm>
          <a:prstGeom prst="righ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932078-4458-DBD4-5B13-56F87A2FB55E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894320" y="4031892"/>
            <a:ext cx="422928" cy="4229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EEA987-286D-773A-B9BC-357B3BC5A922}"/>
                  </a:ext>
                </a:extLst>
              </p:cNvPr>
              <p:cNvSpPr txBox="1"/>
              <p:nvPr/>
            </p:nvSpPr>
            <p:spPr>
              <a:xfrm>
                <a:off x="6611316" y="4454828"/>
                <a:ext cx="179832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600" dirty="0">
                    <a:solidFill>
                      <a:schemeClr val="accent6"/>
                    </a:solidFill>
                  </a:rPr>
                  <a:t>Word Embedding</a:t>
                </a:r>
              </a:p>
              <a:p>
                <a:pPr algn="ctr"/>
                <a:r>
                  <a:rPr lang="en-GB" sz="1600" dirty="0">
                    <a:solidFill>
                      <a:schemeClr val="accent6"/>
                    </a:solidFill>
                  </a:rPr>
                  <a:t>of speech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600" dirty="0">
                  <a:solidFill>
                    <a:schemeClr val="accent6"/>
                  </a:solidFill>
                </a:endParaRPr>
              </a:p>
              <a:p>
                <a:pPr algn="ctr"/>
                <a:r>
                  <a:rPr lang="en-GB" sz="1600" dirty="0">
                    <a:solidFill>
                      <a:schemeClr val="accent6"/>
                    </a:solidFill>
                  </a:rPr>
                  <a:t>from averaging over word vectors in the speech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EEA987-286D-773A-B9BC-357B3BC5A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316" y="4454828"/>
                <a:ext cx="1798320" cy="1323439"/>
              </a:xfrm>
              <a:prstGeom prst="rect">
                <a:avLst/>
              </a:prstGeom>
              <a:blipFill>
                <a:blip r:embed="rId3"/>
                <a:stretch>
                  <a:fillRect t="-1382" r="-3729" b="-5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FF8131-FC28-6EFF-9033-DE5A93886B6D}"/>
                  </a:ext>
                </a:extLst>
              </p:cNvPr>
              <p:cNvSpPr txBox="1"/>
              <p:nvPr/>
            </p:nvSpPr>
            <p:spPr>
              <a:xfrm>
                <a:off x="6937017" y="3355425"/>
                <a:ext cx="2760462" cy="676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sim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GB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GB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sim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GB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  <m:r>
                            <a:rPr lang="en-GB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FF8131-FC28-6EFF-9033-DE5A93886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017" y="3355425"/>
                <a:ext cx="2760462" cy="676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5577E2-EE14-2984-17C0-1606E59BD849}"/>
                  </a:ext>
                </a:extLst>
              </p:cNvPr>
              <p:cNvSpPr txBox="1"/>
              <p:nvPr/>
            </p:nvSpPr>
            <p:spPr>
              <a:xfrm>
                <a:off x="1107070" y="3163079"/>
                <a:ext cx="4353404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>
                    <a:solidFill>
                      <a:schemeClr val="accent6"/>
                    </a:solidFill>
                  </a:rPr>
                  <a:t>: relatively more affective</a:t>
                </a:r>
              </a:p>
              <a:p>
                <a:endParaRPr lang="en-GB" dirty="0">
                  <a:solidFill>
                    <a:schemeClr val="accent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>
                    <a:solidFill>
                      <a:schemeClr val="accent6"/>
                    </a:solidFill>
                  </a:rPr>
                  <a:t>: equally affective and cognitive</a:t>
                </a:r>
              </a:p>
              <a:p>
                <a:endParaRPr lang="en-GB" dirty="0">
                  <a:solidFill>
                    <a:schemeClr val="accent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>
                    <a:solidFill>
                      <a:schemeClr val="accent6"/>
                    </a:solidFill>
                  </a:rPr>
                  <a:t>: relatively more cognitive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5577E2-EE14-2984-17C0-1606E59BD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070" y="3163079"/>
                <a:ext cx="4353404" cy="1477328"/>
              </a:xfrm>
              <a:prstGeom prst="rect">
                <a:avLst/>
              </a:prstGeom>
              <a:blipFill>
                <a:blip r:embed="rId5"/>
                <a:stretch>
                  <a:fillRect l="-980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5E019F2-36E3-1267-3B4A-67FFA5A1520A}"/>
              </a:ext>
            </a:extLst>
          </p:cNvPr>
          <p:cNvSpPr txBox="1"/>
          <p:nvPr/>
        </p:nvSpPr>
        <p:spPr>
          <a:xfrm>
            <a:off x="587829" y="5351762"/>
            <a:ext cx="6097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Vectors weighted by smoothed inverse frequencies, upweighting words that appear relatively rarely.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0EAADE-3485-533D-27F4-984AE20E721F}"/>
              </a:ext>
            </a:extLst>
          </p:cNvPr>
          <p:cNvSpPr txBox="1"/>
          <p:nvPr/>
        </p:nvSpPr>
        <p:spPr>
          <a:xfrm>
            <a:off x="7049917" y="5875621"/>
            <a:ext cx="3461663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Gennaro &amp; Ash (2022)</a:t>
            </a:r>
          </a:p>
        </p:txBody>
      </p:sp>
    </p:spTree>
    <p:extLst>
      <p:ext uri="{BB962C8B-B14F-4D97-AF65-F5344CB8AC3E}">
        <p14:creationId xmlns:p14="http://schemas.microsoft.com/office/powerpoint/2010/main" val="530957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C1173-8686-8836-C91E-F53E71DD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63EABB7-AD78-A24F-48FD-CF2D33A9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 Methodology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04A3F899-43F1-C9D8-AACC-CCCB32C5364C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dirty="0"/>
              <a:t>Sentiment analysis using Claude Sonnet 4.6 </a:t>
            </a:r>
          </a:p>
          <a:p>
            <a:pPr lvl="1"/>
            <a:r>
              <a:rPr lang="en-GB" dirty="0"/>
              <a:t>Exact architecture not publicly available</a:t>
            </a:r>
          </a:p>
          <a:p>
            <a:r>
              <a:rPr lang="en-GB" b="1" dirty="0"/>
              <a:t>Limitations</a:t>
            </a:r>
            <a:r>
              <a:rPr lang="en-GB" dirty="0"/>
              <a:t> – Replicability, unknown biases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E16C9-D46D-A1E5-11C2-EB702510950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E939E-0C98-8128-1966-EAE991C4B43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26156-DB7D-24FB-F8AD-F6D78548057A}"/>
              </a:ext>
            </a:extLst>
          </p:cNvPr>
          <p:cNvSpPr txBox="1"/>
          <p:nvPr/>
        </p:nvSpPr>
        <p:spPr>
          <a:xfrm>
            <a:off x="196245" y="3100611"/>
            <a:ext cx="29647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Rate the emotionality of the following text on a scale from 1 to 10, where: 1 = purely factual, technical, or administrative language with no emotional content, 5 = equally balanced in factual and emotional language, and 10 = highly emotional, charged, or affective language.</a:t>
            </a:r>
          </a:p>
          <a:p>
            <a:r>
              <a:rPr lang="en-GB" sz="1200" dirty="0"/>
              <a:t>Rate the text a 0 if the text is not grammatically correct or is otherwise erroneous</a:t>
            </a:r>
          </a:p>
          <a:p>
            <a:r>
              <a:rPr lang="en-GB" sz="1200" dirty="0"/>
              <a:t>Text: “input text”</a:t>
            </a:r>
          </a:p>
          <a:p>
            <a:r>
              <a:rPr lang="en-GB" sz="1200" dirty="0"/>
              <a:t>Respond in this exact format:</a:t>
            </a:r>
          </a:p>
          <a:p>
            <a:r>
              <a:rPr lang="en-GB" sz="1200" dirty="0"/>
              <a:t>SCORE: [number 0-10]</a:t>
            </a:r>
          </a:p>
          <a:p>
            <a:r>
              <a:rPr lang="en-GB" sz="1200" dirty="0"/>
              <a:t>REASONING: [one sentence explanation] </a:t>
            </a:r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8C356-2C9F-CBE1-FC83-F3472DCDC10B}"/>
              </a:ext>
            </a:extLst>
          </p:cNvPr>
          <p:cNvSpPr txBox="1"/>
          <p:nvPr/>
        </p:nvSpPr>
        <p:spPr>
          <a:xfrm>
            <a:off x="45772" y="5703576"/>
            <a:ext cx="2964779" cy="3077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b="1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User prompt for Claude API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0D3312-65A8-ADF5-CDB2-BE82DB0E4D05}"/>
              </a:ext>
            </a:extLst>
          </p:cNvPr>
          <p:cNvCxnSpPr>
            <a:cxnSpLocks/>
          </p:cNvCxnSpPr>
          <p:nvPr/>
        </p:nvCxnSpPr>
        <p:spPr>
          <a:xfrm>
            <a:off x="2874711" y="4533850"/>
            <a:ext cx="6979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EE8CC20-D6E3-D416-37EF-933231497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84" y="2737944"/>
            <a:ext cx="6082804" cy="3445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AA8E87-D1CF-92C9-376D-C5BE4AC87552}"/>
              </a:ext>
            </a:extLst>
          </p:cNvPr>
          <p:cNvSpPr txBox="1"/>
          <p:nvPr/>
        </p:nvSpPr>
        <p:spPr>
          <a:xfrm>
            <a:off x="4485863" y="6183354"/>
            <a:ext cx="5030428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Example Transformer Architecture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, from 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  <a:hlinkClick r:id="rId3"/>
              </a:rPr>
              <a:t>https://deeprevision.github.io/posts/001-transformer/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.</a:t>
            </a:r>
            <a:endParaRPr lang="en-GB" sz="1400" b="1" dirty="0">
              <a:solidFill>
                <a:schemeClr val="accent6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A8F42F-08BC-4EB5-E753-90F9A90C54DC}"/>
              </a:ext>
            </a:extLst>
          </p:cNvPr>
          <p:cNvCxnSpPr>
            <a:cxnSpLocks/>
          </p:cNvCxnSpPr>
          <p:nvPr/>
        </p:nvCxnSpPr>
        <p:spPr>
          <a:xfrm>
            <a:off x="9734888" y="4396935"/>
            <a:ext cx="57823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74BFDB-0232-1A3C-8B25-DADE8C41D4C9}"/>
              </a:ext>
            </a:extLst>
          </p:cNvPr>
          <p:cNvSpPr txBox="1"/>
          <p:nvPr/>
        </p:nvSpPr>
        <p:spPr>
          <a:xfrm>
            <a:off x="10421764" y="3119662"/>
            <a:ext cx="136332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[SCORE]</a:t>
            </a:r>
          </a:p>
          <a:p>
            <a:r>
              <a:rPr lang="en-GB" sz="1600" dirty="0"/>
              <a:t>10: very high emotiveness</a:t>
            </a:r>
          </a:p>
          <a:p>
            <a:r>
              <a:rPr lang="en-GB" sz="1600" dirty="0"/>
              <a:t>5: balanced</a:t>
            </a:r>
          </a:p>
          <a:p>
            <a:r>
              <a:rPr lang="en-GB" sz="1600" dirty="0"/>
              <a:t>1: very low emotiveness</a:t>
            </a:r>
          </a:p>
          <a:p>
            <a:r>
              <a:rPr lang="en-GB" sz="1600" dirty="0"/>
              <a:t>0: unrateable</a:t>
            </a:r>
          </a:p>
          <a:p>
            <a:pPr algn="ctr"/>
            <a:r>
              <a:rPr lang="en-GB" sz="1600" dirty="0"/>
              <a:t>+</a:t>
            </a:r>
          </a:p>
          <a:p>
            <a:r>
              <a:rPr lang="en-GB" sz="1600" dirty="0"/>
              <a:t>[REASONING]</a:t>
            </a:r>
          </a:p>
          <a:p>
            <a:endParaRPr lang="en-GB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72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328CF-BB64-F7D6-DBFA-2B42FF56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552FDF4-9F79-47C1-A43E-1EFD2835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– Emotionality scores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C15A8AF8-1E50-0AB0-8FB6-33B375FCFD3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Politicians use significantly more affective language than civil servants.</a:t>
            </a:r>
          </a:p>
          <a:p>
            <a:pPr marL="0" indent="0">
              <a:buNone/>
            </a:pPr>
            <a:r>
              <a:rPr lang="en-GB" dirty="0"/>
              <a:t>The difference between politicians from different political parties was not significant.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EE07ED-13EC-8BF7-FAB4-A669CAAB411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02CEB-D15B-C7C1-1FC0-41F202F58C2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4410FE-772F-92AE-2E17-06E58E4C2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62272"/>
              </p:ext>
            </p:extLst>
          </p:nvPr>
        </p:nvGraphicFramePr>
        <p:xfrm>
          <a:off x="2436005" y="2709788"/>
          <a:ext cx="6819248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812">
                  <a:extLst>
                    <a:ext uri="{9D8B030D-6E8A-4147-A177-3AD203B41FA5}">
                      <a16:colId xmlns:a16="http://schemas.microsoft.com/office/drawing/2014/main" val="882369406"/>
                    </a:ext>
                  </a:extLst>
                </a:gridCol>
                <a:gridCol w="1704812">
                  <a:extLst>
                    <a:ext uri="{9D8B030D-6E8A-4147-A177-3AD203B41FA5}">
                      <a16:colId xmlns:a16="http://schemas.microsoft.com/office/drawing/2014/main" val="4294792038"/>
                    </a:ext>
                  </a:extLst>
                </a:gridCol>
                <a:gridCol w="1704812">
                  <a:extLst>
                    <a:ext uri="{9D8B030D-6E8A-4147-A177-3AD203B41FA5}">
                      <a16:colId xmlns:a16="http://schemas.microsoft.com/office/drawing/2014/main" val="4112921056"/>
                    </a:ext>
                  </a:extLst>
                </a:gridCol>
                <a:gridCol w="1704812">
                  <a:extLst>
                    <a:ext uri="{9D8B030D-6E8A-4147-A177-3AD203B41FA5}">
                      <a16:colId xmlns:a16="http://schemas.microsoft.com/office/drawing/2014/main" val="1357233912"/>
                    </a:ext>
                  </a:extLst>
                </a:gridCol>
              </a:tblGrid>
              <a:tr h="377623">
                <a:tc rowSpan="2"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Year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Emotionality Score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735081"/>
                  </a:ext>
                </a:extLst>
              </a:tr>
              <a:tr h="37762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Politician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Civil Servant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Difference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108983"/>
                  </a:ext>
                </a:extLst>
              </a:tr>
              <a:tr h="377623">
                <a:tc>
                  <a:txBody>
                    <a:bodyPr/>
                    <a:lstStyle/>
                    <a:p>
                      <a:r>
                        <a:rPr lang="en-GB" sz="2000" dirty="0"/>
                        <a:t>22/23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1.175***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1.058*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0.117***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60815812"/>
                  </a:ext>
                </a:extLst>
              </a:tr>
              <a:tr h="377623">
                <a:tc>
                  <a:txBody>
                    <a:bodyPr/>
                    <a:lstStyle/>
                    <a:p>
                      <a:r>
                        <a:rPr lang="en-GB" sz="2000" dirty="0"/>
                        <a:t>24/25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1.195***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0.156***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44599"/>
                  </a:ext>
                </a:extLst>
              </a:tr>
              <a:tr h="377623">
                <a:tc>
                  <a:txBody>
                    <a:bodyPr/>
                    <a:lstStyle/>
                    <a:p>
                      <a:r>
                        <a:rPr lang="en-GB" sz="2000" dirty="0"/>
                        <a:t>All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1.186***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1.047**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0.139***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719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4A15694-9494-D608-9632-FA1EACCDE2F7}"/>
              </a:ext>
            </a:extLst>
          </p:cNvPr>
          <p:cNvSpPr txBox="1"/>
          <p:nvPr/>
        </p:nvSpPr>
        <p:spPr>
          <a:xfrm>
            <a:off x="2436005" y="4819991"/>
            <a:ext cx="6819248" cy="116955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b="1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Mean Document-Level Emotionality Scores 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by author and year. T-tests were performed against a null hypothesis of 1 (equally affective and cognitive language). The difference in means calculated significance is based on an independent samples t-test. *, **, *** denotes significance at the 10%, 5% and 1% levels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141300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F6D37-3288-3B14-7450-5E6695C69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B848D7-FE2D-7A6F-8297-D5A9A2339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– Claude ratings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D68F669C-72A3-A51A-9DD9-F3C7F114C786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Politicians use significantly more emotive language than civil servants.</a:t>
            </a:r>
          </a:p>
          <a:p>
            <a:pPr marL="0" indent="0">
              <a:buNone/>
            </a:pPr>
            <a:r>
              <a:rPr lang="en-GB" dirty="0"/>
              <a:t>Levels of emotiveness are lower than detected through the emotionality scores.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5216D-7A61-4F50-A1C3-3D3DFE54974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D459CB-46BB-FA6F-98B9-B6AACB149A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F1FCB5-05AE-DB3C-24F2-3DCBD34A3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615085"/>
              </p:ext>
            </p:extLst>
          </p:nvPr>
        </p:nvGraphicFramePr>
        <p:xfrm>
          <a:off x="587829" y="2690194"/>
          <a:ext cx="6819248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812">
                  <a:extLst>
                    <a:ext uri="{9D8B030D-6E8A-4147-A177-3AD203B41FA5}">
                      <a16:colId xmlns:a16="http://schemas.microsoft.com/office/drawing/2014/main" val="882369406"/>
                    </a:ext>
                  </a:extLst>
                </a:gridCol>
                <a:gridCol w="1704812">
                  <a:extLst>
                    <a:ext uri="{9D8B030D-6E8A-4147-A177-3AD203B41FA5}">
                      <a16:colId xmlns:a16="http://schemas.microsoft.com/office/drawing/2014/main" val="4294792038"/>
                    </a:ext>
                  </a:extLst>
                </a:gridCol>
                <a:gridCol w="1704812">
                  <a:extLst>
                    <a:ext uri="{9D8B030D-6E8A-4147-A177-3AD203B41FA5}">
                      <a16:colId xmlns:a16="http://schemas.microsoft.com/office/drawing/2014/main" val="4112921056"/>
                    </a:ext>
                  </a:extLst>
                </a:gridCol>
                <a:gridCol w="1704812">
                  <a:extLst>
                    <a:ext uri="{9D8B030D-6E8A-4147-A177-3AD203B41FA5}">
                      <a16:colId xmlns:a16="http://schemas.microsoft.com/office/drawing/2014/main" val="1357233912"/>
                    </a:ext>
                  </a:extLst>
                </a:gridCol>
              </a:tblGrid>
              <a:tr h="377623">
                <a:tc rowSpan="2"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Year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Claude Ratings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735081"/>
                  </a:ext>
                </a:extLst>
              </a:tr>
              <a:tr h="37762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Politician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Civil Servant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/>
                        <a:t>Difference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108983"/>
                  </a:ext>
                </a:extLst>
              </a:tr>
              <a:tr h="377623">
                <a:tc>
                  <a:txBody>
                    <a:bodyPr/>
                    <a:lstStyle/>
                    <a:p>
                      <a:r>
                        <a:rPr lang="en-GB" sz="2000" dirty="0"/>
                        <a:t>22/23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5.000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3.727***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1.273***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60815812"/>
                  </a:ext>
                </a:extLst>
              </a:tr>
              <a:tr h="377623">
                <a:tc>
                  <a:txBody>
                    <a:bodyPr/>
                    <a:lstStyle/>
                    <a:p>
                      <a:r>
                        <a:rPr lang="en-GB" sz="2000" dirty="0"/>
                        <a:t>24/25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5.467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3.875***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1.592***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44599"/>
                  </a:ext>
                </a:extLst>
              </a:tr>
              <a:tr h="304355">
                <a:tc>
                  <a:txBody>
                    <a:bodyPr/>
                    <a:lstStyle/>
                    <a:p>
                      <a:r>
                        <a:rPr lang="en-GB" sz="2000" dirty="0"/>
                        <a:t>All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5.259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3.815***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1.444***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719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B66892-307A-35F7-3C9E-75C0F0093345}"/>
              </a:ext>
            </a:extLst>
          </p:cNvPr>
          <p:cNvSpPr txBox="1"/>
          <p:nvPr/>
        </p:nvSpPr>
        <p:spPr>
          <a:xfrm>
            <a:off x="587829" y="4800397"/>
            <a:ext cx="6819248" cy="116955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sz="1400" b="1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Mean Document-Level Claude ratings </a:t>
            </a:r>
            <a:r>
              <a:rPr lang="en-GB" sz="1400" dirty="0">
                <a:solidFill>
                  <a:schemeClr val="accent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by author and year. T-tests were performed against a null hypothesis of 5 (equally emotive and factual language). The difference in means calculated significance is based on an independent samples t-test. *, **, *** denotes significance at the 10%, 5% and 1% levels respectively.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FC45E5-49FC-AFC7-FEE9-0A88FA0ECF82}"/>
                  </a:ext>
                </a:extLst>
              </p:cNvPr>
              <p:cNvSpPr txBox="1"/>
              <p:nvPr/>
            </p:nvSpPr>
            <p:spPr>
              <a:xfrm>
                <a:off x="8138159" y="2690194"/>
                <a:ext cx="3624943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>
                    <a:solidFill>
                      <a:schemeClr val="accent6"/>
                    </a:solidFill>
                  </a:rPr>
                  <a:t>Emotionality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GB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GB" b="1" dirty="0">
                    <a:solidFill>
                      <a:schemeClr val="accent6"/>
                    </a:solidFill>
                  </a:rPr>
                  <a:t>vs Claude Rating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GB" b="1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>
                    <a:solidFill>
                      <a:schemeClr val="accent6"/>
                    </a:solidFill>
                  </a:rPr>
                  <a:t>: relatively more affective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chemeClr val="accent6"/>
                    </a:solidFill>
                  </a:rPr>
                  <a:t>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→10</m:t>
                    </m:r>
                  </m:oMath>
                </a14:m>
                <a:endParaRPr lang="en-GB" dirty="0">
                  <a:solidFill>
                    <a:schemeClr val="accent6"/>
                  </a:solidFill>
                </a:endParaRPr>
              </a:p>
              <a:p>
                <a:endParaRPr lang="en-GB" dirty="0">
                  <a:solidFill>
                    <a:schemeClr val="accent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>
                    <a:solidFill>
                      <a:schemeClr val="accent6"/>
                    </a:solidFill>
                  </a:rPr>
                  <a:t>: equally affective and cognitive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chemeClr val="accent6"/>
                    </a:solidFill>
                  </a:rPr>
                  <a:t>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>
                  <a:solidFill>
                    <a:schemeClr val="accent6"/>
                  </a:solidFill>
                </a:endParaRPr>
              </a:p>
              <a:p>
                <a:endParaRPr lang="en-GB" dirty="0">
                  <a:solidFill>
                    <a:schemeClr val="accent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>
                    <a:solidFill>
                      <a:schemeClr val="accent6"/>
                    </a:solidFill>
                  </a:rPr>
                  <a:t>: relatively more cognitive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chemeClr val="accent6"/>
                    </a:solidFill>
                  </a:rPr>
                  <a:t>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FC45E5-49FC-AFC7-FEE9-0A88FA0EC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59" y="2690194"/>
                <a:ext cx="3624943" cy="3139321"/>
              </a:xfrm>
              <a:prstGeom prst="rect">
                <a:avLst/>
              </a:prstGeom>
              <a:blipFill>
                <a:blip r:embed="rId2"/>
                <a:stretch>
                  <a:fillRect l="-1345" t="-777" b="-2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472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9585-CC1F-408B-0C1E-03E566EC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ACDBBEB-44D3-0341-C82B-F355A76A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					Improvements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D76F40DF-EEC0-E4F1-86CE-BA6725DF3E29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87829" y="1622510"/>
            <a:ext cx="5508171" cy="4155757"/>
          </a:xfrm>
        </p:spPr>
        <p:txBody>
          <a:bodyPr/>
          <a:lstStyle/>
          <a:p>
            <a:r>
              <a:rPr lang="en-GB" dirty="0"/>
              <a:t>Data Collection – Manual Search	</a:t>
            </a:r>
          </a:p>
          <a:p>
            <a:pPr lvl="1"/>
            <a:r>
              <a:rPr lang="en-GB" dirty="0"/>
              <a:t>Limited Sample Size</a:t>
            </a:r>
          </a:p>
          <a:p>
            <a:endParaRPr lang="en-GB" dirty="0"/>
          </a:p>
          <a:p>
            <a:r>
              <a:rPr lang="en-GB" dirty="0"/>
              <a:t>Text Extraction – Varied Formatting</a:t>
            </a:r>
          </a:p>
          <a:p>
            <a:pPr lvl="1"/>
            <a:r>
              <a:rPr lang="en-GB" dirty="0"/>
              <a:t>Reduced Data Quality</a:t>
            </a:r>
          </a:p>
          <a:p>
            <a:endParaRPr lang="en-GB" dirty="0"/>
          </a:p>
          <a:p>
            <a:r>
              <a:rPr lang="en-GB" dirty="0"/>
              <a:t>Modelling – No training or fine-tuning</a:t>
            </a:r>
          </a:p>
          <a:p>
            <a:pPr lvl="1"/>
            <a:r>
              <a:rPr lang="en-GB" dirty="0"/>
              <a:t>Required pre-trained values &amp; frequencies</a:t>
            </a:r>
          </a:p>
          <a:p>
            <a:endParaRPr lang="en-GB" dirty="0"/>
          </a:p>
          <a:p>
            <a:r>
              <a:rPr lang="en-GB" dirty="0"/>
              <a:t>Validation – Used Claude Sonnet 4.6</a:t>
            </a:r>
          </a:p>
          <a:p>
            <a:pPr lvl="1"/>
            <a:r>
              <a:rPr lang="en-GB" dirty="0"/>
              <a:t>Lacked replicability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4880E-F7B0-1FE6-0473-6B63436D1F4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D9A64-7A70-4F71-1C20-F80C92B2316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3A0DDE4-D336-1906-531F-4993DA3F714C}"/>
              </a:ext>
            </a:extLst>
          </p:cNvPr>
          <p:cNvSpPr/>
          <p:nvPr/>
        </p:nvSpPr>
        <p:spPr>
          <a:xfrm>
            <a:off x="4173583" y="767248"/>
            <a:ext cx="2155371" cy="624970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hart Placeholder 10">
            <a:extLst>
              <a:ext uri="{FF2B5EF4-FFF2-40B4-BE49-F238E27FC236}">
                <a16:creationId xmlns:a16="http://schemas.microsoft.com/office/drawing/2014/main" id="{A7A98985-6A29-4C3B-FA5A-36E9C94045CD}"/>
              </a:ext>
            </a:extLst>
          </p:cNvPr>
          <p:cNvSpPr txBox="1">
            <a:spLocks/>
          </p:cNvSpPr>
          <p:nvPr/>
        </p:nvSpPr>
        <p:spPr>
          <a:xfrm>
            <a:off x="6096000" y="1622509"/>
            <a:ext cx="5508171" cy="4155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Use LLMs/tools to automate search	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Improve cleaning methods</a:t>
            </a:r>
          </a:p>
          <a:p>
            <a:pPr lvl="1"/>
            <a:r>
              <a:rPr lang="en-GB" dirty="0"/>
              <a:t>Use LLMs/tools</a:t>
            </a:r>
          </a:p>
          <a:p>
            <a:endParaRPr lang="en-GB" dirty="0"/>
          </a:p>
          <a:p>
            <a:r>
              <a:rPr lang="en-GB" dirty="0"/>
              <a:t>Train/fine-tune the model to this context</a:t>
            </a:r>
          </a:p>
          <a:p>
            <a:pPr lvl="1"/>
            <a:r>
              <a:rPr lang="en-GB" dirty="0"/>
              <a:t>If enough data is acquirable</a:t>
            </a:r>
          </a:p>
          <a:p>
            <a:endParaRPr lang="en-GB" dirty="0"/>
          </a:p>
          <a:p>
            <a:r>
              <a:rPr lang="en-GB" dirty="0"/>
              <a:t>Replicate alternative methods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Osnabrügge</a:t>
            </a:r>
            <a:r>
              <a:rPr lang="en-GB" dirty="0"/>
              <a:t> et al. (2021)</a:t>
            </a:r>
          </a:p>
        </p:txBody>
      </p:sp>
    </p:spTree>
    <p:extLst>
      <p:ext uri="{BB962C8B-B14F-4D97-AF65-F5344CB8AC3E}">
        <p14:creationId xmlns:p14="http://schemas.microsoft.com/office/powerpoint/2010/main" val="179057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E173-32DF-DFD8-F566-8C19FFCA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0CBE9FE-CA3C-8FC7-2CDD-108BFB18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CB7B924F-BE45-DD85-2971-65DE1B30E674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sz="1800" dirty="0"/>
              <a:t>Gennaro, G. and Ash, E. Emotion and reason in political language. The Economic Journal, 132:1037–1059, 2022</a:t>
            </a:r>
          </a:p>
          <a:p>
            <a:r>
              <a:rPr lang="en-GB" sz="1800" dirty="0" err="1"/>
              <a:t>Mikolov</a:t>
            </a:r>
            <a:r>
              <a:rPr lang="en-GB" sz="1800" dirty="0"/>
              <a:t>, T., Chen, K., Corrado, G., and Dean, J. Efficient estimation of word representations in vector space. Advances in Neural Information Processing Systems, 2013. URL https://arxiv.org/abs/1301.3781.</a:t>
            </a:r>
          </a:p>
          <a:p>
            <a:r>
              <a:rPr lang="en-GB" sz="1800" dirty="0" err="1"/>
              <a:t>Osnabrügge</a:t>
            </a:r>
            <a:r>
              <a:rPr lang="en-GB" sz="1800" dirty="0"/>
              <a:t>, M., Hobolt, S., and Rodon, T. Playing to the gallery: Emotive rhetoric in parliaments. ¨ American Political Science Review, 115(3):885–899, 2021.</a:t>
            </a:r>
          </a:p>
          <a:p>
            <a:r>
              <a:rPr lang="en-GB" sz="1800" dirty="0"/>
              <a:t>UK Civil Service. The Civil Service code, 2015. URL </a:t>
            </a:r>
            <a:r>
              <a:rPr lang="en-GB" sz="1800" dirty="0">
                <a:hlinkClick r:id="rId2"/>
              </a:rPr>
              <a:t>Civil Service Code</a:t>
            </a:r>
            <a:r>
              <a:rPr lang="en-GB" sz="1800" dirty="0"/>
              <a:t>. Accessed on 14/03/2026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Full list of all sources available in the report.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Disclaimer: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AI was used in this project to support code development and validation. Validation results may suffer unknown biases and not be replicable, as Claude’s architecture is not publicly available.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F80CD-976D-0507-6A1A-0CCA11B16AB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How emotive are politicians? – Yasmin Fox, D200 Project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C1AD6-9BBD-E417-8809-709FE602C7C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92756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1558</Words>
  <Application>Microsoft Office PowerPoint</Application>
  <PresentationFormat>Widescreen</PresentationFormat>
  <Paragraphs>236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等线</vt:lpstr>
      <vt:lpstr>Abadi</vt:lpstr>
      <vt:lpstr>Arial</vt:lpstr>
      <vt:lpstr>Calibri</vt:lpstr>
      <vt:lpstr>Cambria Math</vt:lpstr>
      <vt:lpstr>Posterama</vt:lpstr>
      <vt:lpstr>Posterama Text Black</vt:lpstr>
      <vt:lpstr>Posterama Text SemiBold</vt:lpstr>
      <vt:lpstr>Wingdings</vt:lpstr>
      <vt:lpstr>Custom​​</vt:lpstr>
      <vt:lpstr>How emotive are politicians?</vt:lpstr>
      <vt:lpstr>Background</vt:lpstr>
      <vt:lpstr>How my project differs</vt:lpstr>
      <vt:lpstr>Data – Collection</vt:lpstr>
      <vt:lpstr>Data – Drop unusable forewords</vt:lpstr>
      <vt:lpstr>Data – Cleaning</vt:lpstr>
      <vt:lpstr>Data – Cleaning</vt:lpstr>
      <vt:lpstr>Methodology – Word2Vec</vt:lpstr>
      <vt:lpstr>Methodology – Emotionality</vt:lpstr>
      <vt:lpstr>Validation Methodology</vt:lpstr>
      <vt:lpstr>Results – Emotionality scores</vt:lpstr>
      <vt:lpstr>Results – Claude ratings</vt:lpstr>
      <vt:lpstr>Challenges      Improvements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 Fox</dc:creator>
  <cp:lastModifiedBy>Yasmin Fox</cp:lastModifiedBy>
  <cp:revision>2</cp:revision>
  <dcterms:created xsi:type="dcterms:W3CDTF">2026-03-20T17:25:46Z</dcterms:created>
  <dcterms:modified xsi:type="dcterms:W3CDTF">2026-05-13T08:56:44Z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